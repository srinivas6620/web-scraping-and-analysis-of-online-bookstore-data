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1" r:id="rId3"/>
    <p:sldId id="281" r:id="rId4"/>
    <p:sldId id="263" r:id="rId5"/>
    <p:sldId id="299" r:id="rId6"/>
    <p:sldId id="265" r:id="rId7"/>
    <p:sldId id="264" r:id="rId8"/>
    <p:sldId id="266" r:id="rId9"/>
    <p:sldId id="282" r:id="rId10"/>
    <p:sldId id="300" r:id="rId11"/>
    <p:sldId id="267" r:id="rId12"/>
    <p:sldId id="305" r:id="rId13"/>
    <p:sldId id="304" r:id="rId14"/>
    <p:sldId id="306" r:id="rId15"/>
    <p:sldId id="310" r:id="rId16"/>
    <p:sldId id="311" r:id="rId17"/>
    <p:sldId id="312" r:id="rId18"/>
    <p:sldId id="314" r:id="rId19"/>
    <p:sldId id="315" r:id="rId20"/>
    <p:sldId id="316" r:id="rId21"/>
    <p:sldId id="317" r:id="rId22"/>
    <p:sldId id="25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3393" autoAdjust="0"/>
  </p:normalViewPr>
  <p:slideViewPr>
    <p:cSldViewPr snapToGrid="0">
      <p:cViewPr>
        <p:scale>
          <a:sx n="63" d="100"/>
          <a:sy n="63" d="100"/>
        </p:scale>
        <p:origin x="840" y="56"/>
      </p:cViewPr>
      <p:guideLst/>
    </p:cSldViewPr>
  </p:slideViewPr>
  <p:outlineViewPr>
    <p:cViewPr>
      <p:scale>
        <a:sx n="33" d="100"/>
        <a:sy n="33" d="100"/>
      </p:scale>
      <p:origin x="0" y="-29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40"/>
    </p:cViewPr>
  </p:sorterViewPr>
  <p:notesViewPr>
    <p:cSldViewPr snapToGrid="0">
      <p:cViewPr varScale="1">
        <p:scale>
          <a:sx n="61" d="100"/>
          <a:sy n="61" d="100"/>
        </p:scale>
        <p:origin x="248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8818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s.toscrape.com/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-560439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113110" y="5445444"/>
            <a:ext cx="929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and Analysis of Online Bookstore Data</a:t>
            </a:r>
          </a:p>
        </p:txBody>
      </p:sp>
      <p:pic>
        <p:nvPicPr>
          <p:cNvPr id="1026" name="Picture 2" descr="500+ Bookstore Pictures [HD] | Download Free Images on Unsplash">
            <a:extLst>
              <a:ext uri="{FF2B5EF4-FFF2-40B4-BE49-F238E27FC236}">
                <a16:creationId xmlns:a16="http://schemas.microsoft.com/office/drawing/2014/main" id="{177B0EE6-ED8D-8699-37C0-367F56768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840" y="3015867"/>
            <a:ext cx="3304540" cy="2203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689AB89-95E5-6A3C-C4B9-31B6AF4A5C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545" y="1305446"/>
            <a:ext cx="647421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is about collecting book data from an online bookstore.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used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extract book details (title, price, rating, category, etc.).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data collected was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remove errors and unnecessary text.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created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useful columns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feature engineering and regular expressions.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cleaned dataset was analyzed to understand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patterns, rating trends, and category insights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analysis helps in understanding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types of books are popular and how pricing varies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051" name="Picture 3" descr="Young people at the book shop Cropped image of young man and woman holding a pile of books while standing in the book shop bookstore stock pictures, royalty-free photos &amp; images">
            <a:extLst>
              <a:ext uri="{FF2B5EF4-FFF2-40B4-BE49-F238E27FC236}">
                <a16:creationId xmlns:a16="http://schemas.microsoft.com/office/drawing/2014/main" id="{719B7833-F9E1-3C69-667B-E77454708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760" y="1882976"/>
            <a:ext cx="5104130" cy="361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4" name="Picture 2" descr="Woman's hand picking a book from a library bookshelf Woman's hand picking a book from a library bookshelf bookstore stock pictures, royalty-free photos &amp; images">
            <a:extLst>
              <a:ext uri="{FF2B5EF4-FFF2-40B4-BE49-F238E27FC236}">
                <a16:creationId xmlns:a16="http://schemas.microsoft.com/office/drawing/2014/main" id="{F6068E7D-7108-72E0-F129-6DCB62311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081" y="2161251"/>
            <a:ext cx="5077460" cy="312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4BDD1D2-A3CD-B83F-293E-663102BF9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1607785"/>
            <a:ext cx="638048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Book information on online websites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available in a structured format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is difficult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book prices, ratings, and categories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directly from the website.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Customers may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easily find which books are good 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most preferred.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Businesses cannot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trends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which category sells more or how ratings affect price.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need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collect, clean, and analyze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book data to understand market patterns.</a:t>
            </a:r>
          </a:p>
        </p:txBody>
      </p:sp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240" y="436791"/>
            <a:ext cx="8442086" cy="90913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B731BB-DD20-1059-757A-398F31379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240" y="1521647"/>
            <a:ext cx="1128775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extract book details like title, price, rating, and category from the website using web scraping.</a:t>
            </a:r>
          </a:p>
          <a:p>
            <a:pPr marL="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organize the collected data for proper analysis.</a:t>
            </a:r>
          </a:p>
          <a:p>
            <a:pPr marL="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new useful features (Clean Price, Numeric Rating, Category Type, etc.) using feature engineering.</a:t>
            </a:r>
          </a:p>
          <a:p>
            <a:pPr marL="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perform univariate, bivariate, and multivariate analysis to understand patterns in the data.</a:t>
            </a:r>
          </a:p>
          <a:p>
            <a:pPr marL="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insights such as price trends, popular categories, and rating influence.</a:t>
            </a:r>
          </a:p>
          <a:p>
            <a:pPr marL="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prepare the dataset for future use in dashboards or machine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BB32B-DA84-AA14-30C8-B817E9EA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BA72-AAC0-701C-10C3-ED993719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845" y="382104"/>
            <a:ext cx="11150315" cy="90913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/>
              <a:t>The Dataset &amp; Target Variable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719B2-37A0-B7FE-AA6A-09881B265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507059"/>
            <a:ext cx="9721645" cy="469054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https://books.toscrape.com/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1,000 Books • 19+ Features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Collected: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Book Details: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Name, Category, Description, Product Link, Image Link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Pricing &amp; Rating: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Price,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Clean_Price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(numeric price), Rating,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Numeric_Rating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(1–5)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Category_Type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(Grouped book categories)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Description_Type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(Short / Medium / Long)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Description_Word_Coun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UPC_Numbers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Target Variable: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Clean_Price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Used to study how price varies across rating, category, and description features.</a:t>
            </a:r>
          </a:p>
        </p:txBody>
      </p:sp>
    </p:spTree>
    <p:extLst>
      <p:ext uri="{BB962C8B-B14F-4D97-AF65-F5344CB8AC3E}">
        <p14:creationId xmlns:p14="http://schemas.microsoft.com/office/powerpoint/2010/main" val="525908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534" y="187944"/>
            <a:ext cx="5273333" cy="6840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EB3541D-A268-3BC1-C2ED-48F4720BE60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92479" y="853079"/>
            <a:ext cx="5819987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was collected from the website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books.toscrape.com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scrape the book details.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library was used to send page requests and download HTML content.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parse the HTML and extract required information.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extracted details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Name, Price, Rating, Category, Description, and Product Links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Scraping was performed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pages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collect around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1000 books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was stored into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further cleaning and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24EDD-5B18-5ED2-B1E4-723470450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867" y="1128121"/>
            <a:ext cx="5819988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0888" y="246935"/>
            <a:ext cx="6550223" cy="82386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4" y="1461738"/>
            <a:ext cx="4083169" cy="1362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4425130"/>
            <a:ext cx="4010025" cy="1428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1461738"/>
            <a:ext cx="4019550" cy="1400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5" y="4425129"/>
            <a:ext cx="4083169" cy="1362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193" y="3063874"/>
            <a:ext cx="4019550" cy="1133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29" y="133216"/>
            <a:ext cx="10871364" cy="72367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796858" y="973393"/>
            <a:ext cx="10811106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scraped dataset contained text formatting issues, inconsistent rating values, and encoded price symbols.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Data Issues Carefully: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Column: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Removed special characters (e.g., “Â£”) and converted to a numeric column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Clean_Price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Column: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Converted rating text (One, Two, Three, etc.) into a numeric scale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Numeric_Rating: 1–5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Field: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or empty descriptions were replaced with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 description”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completeness.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Standardization: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 names were cleaned and later grouped into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Category_Type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easier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UPC Processing: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Extracted numeric patterns from UPC to create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UPC_Numbers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UPC_Numbers_Num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regular expressions.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structured dataset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 rows and 19+ meaningful columns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ready for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and visual analysis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CC19-D988-FF79-C13E-A8FD5A07E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58" y="3890665"/>
            <a:ext cx="8087360" cy="257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81" y="1980342"/>
            <a:ext cx="10861482" cy="2897315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/>
              <a:t>PART 1: UNIVARIATE ANALYSIS</a:t>
            </a:r>
          </a:p>
        </p:txBody>
      </p:sp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3316A-56A2-A821-2631-6FE5D7DB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28B6-85AA-4CFE-66C5-1D4C2C28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1" y="176968"/>
            <a:ext cx="5445759" cy="88983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Price Distribution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EBC9C7F-677F-5D2E-DBF9-1C7F3E891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23332"/>
            <a:ext cx="62992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books are priced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£20 and £50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books are very cheap or very expensive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Prices are mostly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and consistent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the website.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store seems to target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mid-range customers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pricing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large price gaps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4262F3C4-521F-384D-3541-9A1880D63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1" y="1237556"/>
            <a:ext cx="5067300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98A1AB-3F69-2278-3C07-CA4DD4882701}"/>
              </a:ext>
            </a:extLst>
          </p:cNvPr>
          <p:cNvSpPr txBox="1"/>
          <p:nvPr/>
        </p:nvSpPr>
        <p:spPr>
          <a:xfrm>
            <a:off x="5943600" y="267941"/>
            <a:ext cx="6146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Rating Distribution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9FDEA629-581B-07C8-8F79-CDBAE70AC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961" y="975827"/>
            <a:ext cx="5438775" cy="389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7">
            <a:extLst>
              <a:ext uri="{FF2B5EF4-FFF2-40B4-BE49-F238E27FC236}">
                <a16:creationId xmlns:a16="http://schemas.microsoft.com/office/drawing/2014/main" id="{8C725CC8-E004-ACC5-B1C2-B49DF222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856862"/>
            <a:ext cx="59944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rating levels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to 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present in the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books have ratings between 1 and 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mixed reader feedback.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ratings (4 and 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fewer, meaning only some books are highly liked.</a:t>
            </a:r>
          </a:p>
        </p:txBody>
      </p:sp>
    </p:spTree>
    <p:extLst>
      <p:ext uri="{BB962C8B-B14F-4D97-AF65-F5344CB8AC3E}">
        <p14:creationId xmlns:p14="http://schemas.microsoft.com/office/powerpoint/2010/main" val="884849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202368"/>
            <a:ext cx="4399280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2800" b="1" dirty="0"/>
              <a:t>Books per Page Distribution</a:t>
            </a:r>
          </a:p>
        </p:txBody>
      </p:sp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C1D3B8-ED93-5978-25E5-EA1E7ADB0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" y="4766717"/>
            <a:ext cx="654304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page contains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the same number of books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(around 20).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shows the website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books in a consistent layout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all pages.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there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missing or extra book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any page.</a:t>
            </a: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856EFDAB-416D-17FC-841E-0FB75EDE7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10649"/>
            <a:ext cx="6217920" cy="364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D5743E-9716-ADB7-1029-7CB7CB68EB73}"/>
              </a:ext>
            </a:extLst>
          </p:cNvPr>
          <p:cNvSpPr txBox="1"/>
          <p:nvPr/>
        </p:nvSpPr>
        <p:spPr>
          <a:xfrm>
            <a:off x="6217922" y="189503"/>
            <a:ext cx="5760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Category Distribution</a:t>
            </a:r>
          </a:p>
        </p:txBody>
      </p:sp>
      <p:pic>
        <p:nvPicPr>
          <p:cNvPr id="7173" name="Picture 5">
            <a:extLst>
              <a:ext uri="{FF2B5EF4-FFF2-40B4-BE49-F238E27FC236}">
                <a16:creationId xmlns:a16="http://schemas.microsoft.com/office/drawing/2014/main" id="{A51160BC-124E-35F6-BDA7-620F9C917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25" y="816957"/>
            <a:ext cx="5760718" cy="3236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7">
            <a:extLst>
              <a:ext uri="{FF2B5EF4-FFF2-40B4-BE49-F238E27FC236}">
                <a16:creationId xmlns:a16="http://schemas.microsoft.com/office/drawing/2014/main" id="{14BB76C0-EAA1-8084-CAC9-31D2EAA2F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5" y="4381639"/>
            <a:ext cx="587692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Fiction and Other categories are the most common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most books belong to general reading genres.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Non-Fiction, Children/YA, and Comics/Graphic have fewer books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limited variety in these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website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focuses more on general and broad-interest books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niche or specialized categories.</a:t>
            </a:r>
          </a:p>
        </p:txBody>
      </p:sp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D54F9-98B2-7792-7F14-7B8E0226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46A8-C871-9BE4-2548-35A022604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81" y="1980342"/>
            <a:ext cx="10861482" cy="2897315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/>
              <a:t>PART 2: BIVARIATE ANALYSIS</a:t>
            </a:r>
          </a:p>
        </p:txBody>
      </p:sp>
    </p:spTree>
    <p:extLst>
      <p:ext uri="{BB962C8B-B14F-4D97-AF65-F5344CB8AC3E}">
        <p14:creationId xmlns:p14="http://schemas.microsoft.com/office/powerpoint/2010/main" val="2198513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8A9E-BA37-EA22-450E-5B77A2EA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AE43-1E8E-EC0B-6489-CB0F5E5C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1" y="170504"/>
            <a:ext cx="5354319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4000" b="1" dirty="0"/>
              <a:t>Price vs Rating (Boxplot)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FD22E5C-0099-0D03-3728-106B6DFB3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1" y="3963674"/>
            <a:ext cx="485357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Books with higher ratings tend to have slightly higher prices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the difference is not very large.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Prices are spread across all rating levels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meaning price is not strictly based on rating alone.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High-rated books still appear in both low and high price ranges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factors like category or book type also influence price.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DF76CAD7-F649-713C-11F8-EC803FC84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1" y="875413"/>
            <a:ext cx="5407203" cy="294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8C5EB4-16CE-FFA1-EB47-601273227E9D}"/>
              </a:ext>
            </a:extLst>
          </p:cNvPr>
          <p:cNvSpPr txBox="1"/>
          <p:nvPr/>
        </p:nvSpPr>
        <p:spPr>
          <a:xfrm>
            <a:off x="6888479" y="170504"/>
            <a:ext cx="5171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by Category Type</a:t>
            </a: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4D3C9668-12F4-12F8-95AC-B6B477B7C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640" y="785093"/>
            <a:ext cx="6177278" cy="273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AA370219-62FE-BDEA-D007-0D3838C9F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8638" y="3963674"/>
            <a:ext cx="64312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categories have almost similar prices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no big difference between them.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Fiction and Children books are priced a little higher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than others.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 category has both cheap and expensive books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price does not depend only on the category</a:t>
            </a:r>
          </a:p>
        </p:txBody>
      </p:sp>
    </p:spTree>
    <p:extLst>
      <p:ext uri="{BB962C8B-B14F-4D97-AF65-F5344CB8AC3E}">
        <p14:creationId xmlns:p14="http://schemas.microsoft.com/office/powerpoint/2010/main" val="3065345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1A73-DE21-A33A-4A8E-D8D7972C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2381-CB60-E82B-C2EB-0115D9C63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1" y="170504"/>
            <a:ext cx="6441439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b="1" dirty="0"/>
              <a:t>Price vs Description Length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8B47A6C-A888-4EFB-5FA1-44718D048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1" y="4832757"/>
            <a:ext cx="558799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Books with longer descriptions do not always have higher prices.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books fall in the same price range regardless of description length.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is not strongly linked to how long the description is — other factors affect price more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852C04D2-6F7F-9DAC-AD25-BE8B089A8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1" y="885509"/>
            <a:ext cx="5362575" cy="386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D27EFF-AF82-6913-23CA-E37010EC57F5}"/>
              </a:ext>
            </a:extLst>
          </p:cNvPr>
          <p:cNvSpPr txBox="1"/>
          <p:nvPr/>
        </p:nvSpPr>
        <p:spPr>
          <a:xfrm>
            <a:off x="6756399" y="170504"/>
            <a:ext cx="5362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Across Categories</a:t>
            </a:r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94AA761A-B4A5-B322-B451-A32333919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453" y="885509"/>
            <a:ext cx="5438775" cy="3483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A4DB5762-BE98-26D7-B067-663124422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452" y="4187832"/>
            <a:ext cx="595026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categories have books with ratings from 1 to 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meaning every category has both low-rated and high-rated books.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"Other" category has the highest number of books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all rating levels.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Fiction and Comics/Graphic books have more higher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Children and Non-Fiction.</a:t>
            </a:r>
          </a:p>
        </p:txBody>
      </p:sp>
    </p:spTree>
    <p:extLst>
      <p:ext uri="{BB962C8B-B14F-4D97-AF65-F5344CB8AC3E}">
        <p14:creationId xmlns:p14="http://schemas.microsoft.com/office/powerpoint/2010/main" val="1881768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7A2A1-2070-CBA1-B1FF-8D2D678D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E0CD-4893-FACF-701B-8E69063A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81" y="1980342"/>
            <a:ext cx="10861482" cy="2897315"/>
          </a:xfrm>
        </p:spPr>
        <p:txBody>
          <a:bodyPr>
            <a:noAutofit/>
          </a:bodyPr>
          <a:lstStyle/>
          <a:p>
            <a:pPr algn="ctr"/>
            <a:r>
              <a:rPr lang="en-IN" b="1" dirty="0"/>
              <a:t>PART 3: MULTIVARIATE ANALYSIS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3072440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B70C-DE0F-2DDB-9734-14438D16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5777-9C40-4AA0-0442-ADC4DDA46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1" y="119704"/>
            <a:ext cx="6991404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4000" b="1" dirty="0"/>
              <a:t>Price by Category and Rating</a:t>
            </a:r>
            <a:endParaRPr lang="en-IN" sz="4000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14636C-3FB6-4BA7-C62D-E0F4BB819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49948"/>
            <a:ext cx="61975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ratings slightly increase 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not by much.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Prices vary within each category.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Category and rating do not fully decide price.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E5D9D19E-A196-610D-D036-0B95FAC1E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" y="834708"/>
            <a:ext cx="541020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023C1E-8947-8809-894A-D653FF86C979}"/>
              </a:ext>
            </a:extLst>
          </p:cNvPr>
          <p:cNvSpPr txBox="1"/>
          <p:nvPr/>
        </p:nvSpPr>
        <p:spPr>
          <a:xfrm>
            <a:off x="7042205" y="119704"/>
            <a:ext cx="4702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Description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37C942EC-052E-9DAD-622E-1D7CBBA65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182" y="935123"/>
            <a:ext cx="5448300" cy="369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8AB0C6EA-41C4-74F3-F448-01A97D61C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883" y="4909958"/>
            <a:ext cx="61975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or short description does not change price much.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Books with any description type appear across all price levels.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 and description together still do not strongly decide price.</a:t>
            </a:r>
          </a:p>
        </p:txBody>
      </p:sp>
    </p:spTree>
    <p:extLst>
      <p:ext uri="{BB962C8B-B14F-4D97-AF65-F5344CB8AC3E}">
        <p14:creationId xmlns:p14="http://schemas.microsoft.com/office/powerpoint/2010/main" val="951880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7E80-4A72-0B62-3C79-A67D040D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B4A2A-D363-BE60-6BB5-F1864E8E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127" y="170504"/>
            <a:ext cx="7906123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/>
              <a:t>Multivariate Correlation Patterns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230FD1-8C6F-B9F5-70E7-D5ADC73BC960}"/>
              </a:ext>
            </a:extLst>
          </p:cNvPr>
          <p:cNvSpPr txBox="1"/>
          <p:nvPr/>
        </p:nvSpPr>
        <p:spPr>
          <a:xfrm>
            <a:off x="305052" y="1122631"/>
            <a:ext cx="5904915" cy="5259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Relationships: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Clean_Price has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low correlation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Rating and Description length.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Strong Patterns: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feature correlations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to zero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no direct linear link.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Influencers: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is likely affected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(author, edition, popularity, publisher) rather than these numeric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Understanding: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is not determined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rating or description length in this dataset.</a:t>
            </a: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5BB780C-0265-0C3F-E3B8-114D24C9C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848" y="947213"/>
            <a:ext cx="5281752" cy="516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10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02994-851A-5E4A-9135-28B13D05C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A181-3617-D687-B084-F504149F1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06894"/>
            <a:ext cx="10762059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/>
              <a:t>Key Business Insights &amp; Recommendations</a:t>
            </a:r>
            <a:endParaRPr lang="en-IN" sz="36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9371163-7ABB-39D7-7EBC-CB7A3DD7B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" y="1396251"/>
            <a:ext cx="1170432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Mid-range pricing dominates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most books cluster in the £20–£50 range, showing a stable and consumer-friendly pricing strategy.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Category variety is wide, but demand concentrates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Fiction and general-interest books lead, while Non-Fiction and Comics remain niche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 ratings do not strongly drive pricing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rating and description length show near-zero correlation with price, meaning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brand/author value outweighs user feedback.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value is influenced by intangible factors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reputation, edition quality, and publisher prestige play a stronger role than text content length or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Pricing strategy is standardized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consistent price spread across categories reflects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mature catalog with controlled pricing rather than aggressive market positioning.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592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59BE-7EDF-2EC5-245A-234DB191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2DAA-CA89-C6D9-ED0B-BE676546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100" y="106894"/>
            <a:ext cx="9819799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/>
              <a:t>Conclusion 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759CDC-16F9-724C-BE2B-23EB22120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6100" y="1123439"/>
            <a:ext cx="1073158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successfully scraped and cleaned book data from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books.toscrape.com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useful features were created (Clean Price, Numeric Rating, Category Type, etc.) to improve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books fall in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mid-range price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stable and affordable pricing.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Category and rating have only a small effect on price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meaning price is influenced more by author, edition, or publisher.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now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organized, insightful, and ready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further use in dashboards or recommendation systems.</a:t>
            </a:r>
          </a:p>
        </p:txBody>
      </p:sp>
    </p:spTree>
    <p:extLst>
      <p:ext uri="{BB962C8B-B14F-4D97-AF65-F5344CB8AC3E}">
        <p14:creationId xmlns:p14="http://schemas.microsoft.com/office/powerpoint/2010/main" val="1913312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CFFBA-D6EC-8B7D-9B7F-5BD4848BF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F4F8-76EE-540B-C293-8CD25A5A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181" y="208494"/>
            <a:ext cx="10565633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4000" b="1" dirty="0"/>
              <a:t>Experience – Web Scraping &amp; Data Analysis</a:t>
            </a:r>
            <a:endParaRPr lang="en-IN" sz="4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D4A32-A094-BDE7-799A-5349871A2565}"/>
              </a:ext>
            </a:extLst>
          </p:cNvPr>
          <p:cNvSpPr txBox="1"/>
          <p:nvPr/>
        </p:nvSpPr>
        <p:spPr>
          <a:xfrm>
            <a:off x="813181" y="1037964"/>
            <a:ext cx="10032492" cy="46230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book data from a live website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transformed raw data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(handling missing values, encoding fixes, feature engineering).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text-based ratings and prices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 numerical values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Univariate, Bivariate, and Multivariate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patterns and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visualizations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clearly present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insights to support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 and decision-making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5074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263E-49B5-8E21-9B7D-C1C1C2ED7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86210-D526-CEEB-7E7C-1E55FBE2E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181" y="208494"/>
            <a:ext cx="10565633" cy="6145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– Web Scraping &amp; Data Analysis</a:t>
            </a:r>
            <a:endParaRPr lang="en-IN" sz="40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08B87FA-65DC-0319-DEDA-7ED3E757F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720" y="1195897"/>
            <a:ext cx="112166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Irregular HTML structure: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Some pages required careful tag selection to extract data correctly.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 issues in Price and Description: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Symbols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“Â£”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had to be cleaned and converted.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 stored as text: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Needed conversion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 scale (1–5)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or very short descriptions: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Handled by replacing with "No description" for consistency.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required extra steps: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Extracting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Category_Type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 length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UPC patterns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took careful processing.</a:t>
            </a:r>
          </a:p>
        </p:txBody>
      </p:sp>
    </p:spTree>
    <p:extLst>
      <p:ext uri="{BB962C8B-B14F-4D97-AF65-F5344CB8AC3E}">
        <p14:creationId xmlns:p14="http://schemas.microsoft.com/office/powerpoint/2010/main" val="2737952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1,800+ Thank You Presentation Stock Photos, Pictures &amp; Royalty-Free Images  - iStock | Thank you for listening, Thank you sign, Thank you note">
            <a:extLst>
              <a:ext uri="{FF2B5EF4-FFF2-40B4-BE49-F238E27FC236}">
                <a16:creationId xmlns:a16="http://schemas.microsoft.com/office/drawing/2014/main" id="{20A35851-7728-0177-9AC4-06858B17C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345" y="692727"/>
            <a:ext cx="9975273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1662</Words>
  <Application>Microsoft Office PowerPoint</Application>
  <PresentationFormat>Widescreen</PresentationFormat>
  <Paragraphs>126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Times New Roman</vt:lpstr>
      <vt:lpstr>Calibri</vt:lpstr>
      <vt:lpstr>Arial</vt:lpstr>
      <vt:lpstr>Office Theme</vt:lpstr>
      <vt:lpstr>PowerPoint Presentation</vt:lpstr>
      <vt:lpstr>Introduction:</vt:lpstr>
      <vt:lpstr>Business Problem:</vt:lpstr>
      <vt:lpstr>Objectives</vt:lpstr>
      <vt:lpstr>The Dataset &amp; Target Variable</vt:lpstr>
      <vt:lpstr>Web Scraping</vt:lpstr>
      <vt:lpstr>Tools Used</vt:lpstr>
      <vt:lpstr>Data Cleaning Steps</vt:lpstr>
      <vt:lpstr>PART 1: UNIVARIATE ANALYSIS</vt:lpstr>
      <vt:lpstr>Book Price Distribution</vt:lpstr>
      <vt:lpstr>Books per Page Distribution</vt:lpstr>
      <vt:lpstr>PART 2: BIVARIATE ANALYSIS</vt:lpstr>
      <vt:lpstr>Price vs Rating (Boxplot)</vt:lpstr>
      <vt:lpstr>Price vs Description Length</vt:lpstr>
      <vt:lpstr>PART 3: MULTIVARIATE ANALYSIS</vt:lpstr>
      <vt:lpstr>Price by Category and Rating</vt:lpstr>
      <vt:lpstr>Multivariate Correlation Patterns</vt:lpstr>
      <vt:lpstr>Key Business Insights &amp; Recommendations</vt:lpstr>
      <vt:lpstr>Conclusion </vt:lpstr>
      <vt:lpstr>Experience – Web Scraping &amp; Data Analysis</vt:lpstr>
      <vt:lpstr>Challenges – Web Scraping &amp; Data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kishore</dc:creator>
  <cp:lastModifiedBy>dongari srinu</cp:lastModifiedBy>
  <cp:revision>43</cp:revision>
  <dcterms:created xsi:type="dcterms:W3CDTF">2021-02-16T05:19:01Z</dcterms:created>
  <dcterms:modified xsi:type="dcterms:W3CDTF">2025-11-07T15:37:49Z</dcterms:modified>
</cp:coreProperties>
</file>